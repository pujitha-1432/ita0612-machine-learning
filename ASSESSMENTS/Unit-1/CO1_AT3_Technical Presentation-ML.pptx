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74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031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46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63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0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32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2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912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68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627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75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C323EC-F655-4968-8AB3-DEFFF2CC795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27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606061" y="876598"/>
            <a:ext cx="8979877" cy="2083777"/>
          </a:xfrm>
          <a:prstGeom prst="roundRect">
            <a:avLst>
              <a:gd name="adj" fmla="val 26794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b="1" dirty="0" smtClean="0"/>
              <a:t>             Machine </a:t>
            </a:r>
            <a:r>
              <a:rPr lang="en-US" sz="3600" b="1" dirty="0"/>
              <a:t>Learning: Practical Significance, Dataset and Literature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32985" y="4950069"/>
            <a:ext cx="31916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PUJITHA (192524149)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3931" y="4765403"/>
            <a:ext cx="7025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COURSE CODE</a:t>
            </a:r>
            <a:r>
              <a:rPr lang="en-US" dirty="0" smtClean="0"/>
              <a:t>: </a:t>
            </a:r>
            <a:r>
              <a:rPr lang="en-US" dirty="0" smtClean="0"/>
              <a:t>ITA0612</a:t>
            </a:r>
            <a:endParaRPr lang="en-US" dirty="0" smtClean="0"/>
          </a:p>
          <a:p>
            <a:r>
              <a:rPr lang="en-US" b="1" dirty="0" smtClean="0"/>
              <a:t>COURSE NAME </a:t>
            </a:r>
            <a:r>
              <a:rPr lang="en-US" dirty="0" smtClean="0"/>
              <a:t>: </a:t>
            </a:r>
            <a:r>
              <a:rPr lang="en-US" dirty="0" smtClean="0"/>
              <a:t>Machine Learning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92886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256383" y="456992"/>
            <a:ext cx="7186864" cy="1238667"/>
          </a:xfrm>
          <a:prstGeom prst="roundRect">
            <a:avLst>
              <a:gd name="adj" fmla="val 22983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latin typeface="Algerian" panose="04020705040A02060702" pitchFamily="82" charset="0"/>
              </a:rPr>
              <a:t>INTRODUCTION</a:t>
            </a:r>
            <a:endParaRPr lang="en-US" sz="4400" dirty="0">
              <a:latin typeface="Algerian" panose="04020705040A02060702" pitchFamily="8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09056" y="2147286"/>
            <a:ext cx="10026316" cy="4970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 is a branch of Artificial Intelligence.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computers to learn from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can identify patterns and make predictions.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real-world applications.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management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848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8792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425115" y="446968"/>
            <a:ext cx="11341769" cy="1046284"/>
          </a:xfrm>
          <a:prstGeom prst="roundRect">
            <a:avLst>
              <a:gd name="adj" fmla="val 26751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400" b="1" dirty="0" smtClean="0"/>
              <a:t>                   </a:t>
            </a:r>
            <a:r>
              <a:rPr lang="en-US" sz="4400" dirty="0" smtClean="0">
                <a:latin typeface="Algerian" panose="04020705040A02060702" pitchFamily="82" charset="0"/>
              </a:rPr>
              <a:t>Practical </a:t>
            </a:r>
            <a:r>
              <a:rPr lang="en-US" sz="4400" dirty="0">
                <a:latin typeface="Algerian" panose="04020705040A02060702" pitchFamily="82" charset="0"/>
              </a:rPr>
              <a:t>Significance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1088" y="2573179"/>
            <a:ext cx="1019907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is used to solve real-world problems.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faster and better decision-making.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reduce time, cost, and human effort.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prediction and automation.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solutions can be applied to different fields.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39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172307" y="429419"/>
            <a:ext cx="9677400" cy="1201738"/>
          </a:xfrm>
          <a:prstGeom prst="roundRect">
            <a:avLst>
              <a:gd name="adj" fmla="val 3268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b="1" dirty="0" smtClean="0"/>
          </a:p>
          <a:p>
            <a:pPr algn="ctr"/>
            <a:r>
              <a:rPr lang="en-US" sz="4400" dirty="0" smtClean="0">
                <a:latin typeface="Algerian" panose="04020705040A02060702" pitchFamily="82" charset="0"/>
              </a:rPr>
              <a:t>Real-World </a:t>
            </a:r>
            <a:r>
              <a:rPr lang="en-US" sz="4400" dirty="0">
                <a:latin typeface="Algerian" panose="04020705040A02060702" pitchFamily="82" charset="0"/>
              </a:rPr>
              <a:t>Applications of ML</a:t>
            </a:r>
          </a:p>
          <a:p>
            <a:pPr algn="ctr"/>
            <a:endParaRPr lang="en-US" sz="4400" dirty="0">
              <a:latin typeface="Algerian" panose="04020705040A02060702" pitchFamily="82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998677"/>
              </p:ext>
            </p:extLst>
          </p:nvPr>
        </p:nvGraphicFramePr>
        <p:xfrm>
          <a:off x="914863" y="2545248"/>
          <a:ext cx="10515600" cy="3442313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025113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45608876"/>
                    </a:ext>
                  </a:extLst>
                </a:gridCol>
              </a:tblGrid>
              <a:tr h="491759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407833"/>
                  </a:ext>
                </a:extLst>
              </a:tr>
              <a:tr h="49175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7694373"/>
                  </a:ext>
                </a:extLst>
              </a:tr>
              <a:tr h="49175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Agriculture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 yield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930742"/>
                  </a:ext>
                </a:extLst>
              </a:tr>
              <a:tr h="49175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Disaster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Flood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4732715"/>
                  </a:ext>
                </a:extLst>
              </a:tr>
              <a:tr h="49175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Fraud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929414"/>
                  </a:ext>
                </a:extLst>
              </a:tr>
              <a:tr h="49175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performance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092334"/>
                  </a:ext>
                </a:extLst>
              </a:tr>
              <a:tr h="49175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Transportation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68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3004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329961" y="695325"/>
            <a:ext cx="7754815" cy="890588"/>
          </a:xfrm>
          <a:prstGeom prst="roundRect">
            <a:avLst>
              <a:gd name="adj" fmla="val 29501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 smtClean="0">
                <a:latin typeface="Algerian" panose="04020705040A02060702" pitchFamily="82" charset="0"/>
              </a:rPr>
              <a:t>               Importance </a:t>
            </a:r>
            <a:r>
              <a:rPr lang="en-US" sz="2800" dirty="0">
                <a:latin typeface="Algerian" panose="04020705040A02060702" pitchFamily="82" charset="0"/>
              </a:rPr>
              <a:t>of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0923" y="2444262"/>
            <a:ext cx="963636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dataset is the main source of information for an ML model.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quality of the dataset affects model performance.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used to train and test the model.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suitable dataset should match the project objective.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data generally leads to more reliable results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628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960684" y="732883"/>
            <a:ext cx="9153873" cy="969719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916630" y="925356"/>
            <a:ext cx="79506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lgerian" panose="04020705040A02060702" pitchFamily="82" charset="0"/>
              </a:rPr>
              <a:t>Characteristics of a Good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0684" y="2637533"/>
            <a:ext cx="997047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related to the problem.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enough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contains sufficient samples.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represents different situations.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contains reliable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has fewer missing values.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avoids excessive class imbalance.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98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092568" y="720969"/>
            <a:ext cx="7455877" cy="1011116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677658" y="872584"/>
            <a:ext cx="62856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>
                <a:latin typeface="Algerian" panose="04020705040A02060702" pitchFamily="82" charset="0"/>
              </a:rPr>
              <a:t>  Dataset </a:t>
            </a:r>
            <a:r>
              <a:rPr lang="en-US" sz="4000" dirty="0">
                <a:latin typeface="Algerian" panose="04020705040A02060702" pitchFamily="82" charset="0"/>
              </a:rPr>
              <a:t>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9350" y="2525327"/>
            <a:ext cx="994610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the required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 and incorrect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or standardize numerical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important features.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data into training and testing sets.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46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795952" y="580294"/>
            <a:ext cx="6682155" cy="879230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692088" y="696743"/>
            <a:ext cx="46794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1268" y="2030391"/>
            <a:ext cx="1017069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means studying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research works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understand existing ML methods.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recent research papers related to the topic.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used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foundation for the proposed 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502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3261944" y="571397"/>
            <a:ext cx="5231423" cy="875312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341817" y="655110"/>
            <a:ext cx="307167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2961" y="1936363"/>
            <a:ext cx="8887327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has strong practical importance in real-world applications.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relevant and good-quality dataset is essential.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helps understand existing research.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helps identify the research gap.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identified gap provides the basis for a better proposed ML solution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sz="3200" b="1" dirty="0" smtClean="0"/>
              <a:t>Data </a:t>
            </a:r>
            <a:r>
              <a:rPr lang="en-US" sz="3200" b="1" dirty="0"/>
              <a:t>+ Research + Innovation = Effective ML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20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33247" y="2338754"/>
            <a:ext cx="97155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 smtClean="0">
                <a:latin typeface="Algerian" panose="04020705040A02060702" pitchFamily="82" charset="0"/>
              </a:rPr>
              <a:t>THANK YOU !!!</a:t>
            </a:r>
            <a:endParaRPr lang="en-US" sz="88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826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380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Algerian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 pujitha</dc:creator>
  <cp:lastModifiedBy>k pujitha</cp:lastModifiedBy>
  <cp:revision>7</cp:revision>
  <dcterms:created xsi:type="dcterms:W3CDTF">2026-07-14T06:11:59Z</dcterms:created>
  <dcterms:modified xsi:type="dcterms:W3CDTF">2026-10-07T16:07:15Z</dcterms:modified>
</cp:coreProperties>
</file>